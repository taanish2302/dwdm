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62" r:id="rId5"/>
    <p:sldId id="263" r:id="rId6"/>
    <p:sldId id="264" r:id="rId7"/>
    <p:sldId id="265" r:id="rId8"/>
    <p:sldId id="268" r:id="rId9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>
        <p:scale>
          <a:sx n="90" d="100"/>
          <a:sy n="90" d="100"/>
        </p:scale>
        <p:origin x="317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84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62E0C-95D3-F87B-B6A1-B1ED0F2A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70C61-7CDB-ED55-9EFB-BFA3A0479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AB5DD-EB2D-C477-7969-882E9F656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0872F-3440-3699-2BD8-9E8F76E2DC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69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10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1990" y="3212453"/>
            <a:ext cx="803009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CSA1606 DATA WAREHOUSING AND DATA MINING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7981" y="1502397"/>
            <a:ext cx="10278687" cy="1911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Finance</a:t>
            </a:r>
            <a:r>
              <a:rPr lang="en-US" sz="4600" dirty="0"/>
              <a:t> 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Detector &amp; Analytics For Better Economics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23702" y="3975560"/>
            <a:ext cx="8778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Akil Abhinav K 192411029 &amp; Rahul R 192411011 &amp; Taanish Sushil 192511096|</a:t>
            </a:r>
            <a:b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: Dr. Renuga S</a:t>
            </a:r>
          </a:p>
        </p:txBody>
      </p:sp>
      <p:sp>
        <p:nvSpPr>
          <p:cNvPr id="7" name="Shape 5"/>
          <p:cNvSpPr/>
          <p:nvPr/>
        </p:nvSpPr>
        <p:spPr>
          <a:xfrm>
            <a:off x="541990" y="373657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pic>
        <p:nvPicPr>
          <p:cNvPr id="16" name="Picture 15" descr="Admission — SIMATS DEEMED UNIVERSITY">
            <a:extLst>
              <a:ext uri="{FF2B5EF4-FFF2-40B4-BE49-F238E27FC236}">
                <a16:creationId xmlns:a16="http://schemas.microsoft.com/office/drawing/2014/main" id="{FBF51FDC-D1C5-6DE4-AC11-B49FFA8BE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1" y="109791"/>
            <a:ext cx="2819399" cy="758982"/>
          </a:xfrm>
          <a:prstGeom prst="rect">
            <a:avLst/>
          </a:prstGeom>
        </p:spPr>
      </p:pic>
      <p:pic>
        <p:nvPicPr>
          <p:cNvPr id="17" name="Picture 16" descr="Saveetha Institute of Medical And Technical Sciences">
            <a:extLst>
              <a:ext uri="{FF2B5EF4-FFF2-40B4-BE49-F238E27FC236}">
                <a16:creationId xmlns:a16="http://schemas.microsoft.com/office/drawing/2014/main" id="{4DF9A370-2D50-4ED0-4C1A-026220D5E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442" y="105468"/>
            <a:ext cx="1669724" cy="8348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Personal Finance Needs a Warehouse-Grade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36192"/>
            <a:ext cx="10515600" cy="7772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transact across multiple banks, cards and wallets every month, yet have no unified, intelligent system that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spending, catches abnormal behaviour early, and reports financial health with the same rigor enterprise BI applies to corporate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520440" cy="3246120"/>
          </a:xfrm>
          <a:prstGeom prst="roundRect">
            <a:avLst>
              <a:gd name="adj" fmla="val 1690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7" name="Shape 5"/>
          <p:cNvSpPr/>
          <p:nvPr/>
        </p:nvSpPr>
        <p:spPr>
          <a:xfrm>
            <a:off x="1897380" y="2971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finance_ppt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50" y="318577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931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&amp; Error-Prone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4805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or rule-based tagging breaks on new merchants and doesn't scale with transaction volume.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2697480"/>
            <a:ext cx="3520440" cy="3246120"/>
          </a:xfrm>
          <a:prstGeom prst="roundRect">
            <a:avLst>
              <a:gd name="adj" fmla="val 1690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12" name="Shape 9"/>
          <p:cNvSpPr/>
          <p:nvPr/>
        </p:nvSpPr>
        <p:spPr>
          <a:xfrm>
            <a:off x="5692140" y="2971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finance_ppt/icons/search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110" y="318577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931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Anomalies Found Too Late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44805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charges, subscription creep and fraud are usually noticed only when reviewing statements after the fact.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2697480"/>
            <a:ext cx="3520440" cy="3246120"/>
          </a:xfrm>
          <a:prstGeom prst="roundRect">
            <a:avLst>
              <a:gd name="adj" fmla="val 1690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17" name="Shape 13"/>
          <p:cNvSpPr/>
          <p:nvPr/>
        </p:nvSpPr>
        <p:spPr>
          <a:xfrm>
            <a:off x="9486900" y="2971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finance_ppt/icons/chartP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870" y="318577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931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Multi-Dimensional View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12480" y="44805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show flat monthly totals — there is no drill-down by category, merchant, account or time.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5" name="Picture 24" descr="Saveetha Institute of Medical And Technical Sciences">
            <a:extLst>
              <a:ext uri="{FF2B5EF4-FFF2-40B4-BE49-F238E27FC236}">
                <a16:creationId xmlns:a16="http://schemas.microsoft.com/office/drawing/2014/main" id="{A0C4EF6A-A2BC-8C43-E3C8-0FA0B7AD0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0442" y="105468"/>
            <a:ext cx="1669724" cy="8348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Pipeline: Classify, Cluster &amp; Report on Personal Spend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pipeline ingests multi-source transaction data into a PostgreSQL warehouse, classifies every transaction, flags behavioural anomalies through a hybrid clustering + rule engine, and serves OLAP-style financial health reports through KNime.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1874520"/>
          </a:xfrm>
          <a:prstGeom prst="roundRect">
            <a:avLst>
              <a:gd name="adj" fmla="val 2927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6" name="Shape 4"/>
          <p:cNvSpPr/>
          <p:nvPr/>
        </p:nvSpPr>
        <p:spPr>
          <a:xfrm>
            <a:off x="758952" y="2912364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finance_ppt/icons/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92" y="3097804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514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Anomaly Engine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2898648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clusters combined with rule-based checks (duplicates, subscription creep, velocity) — personalised to each user's own history, not a population-wide fraud model.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9632" y="2331720"/>
            <a:ext cx="5440680" cy="1874520"/>
          </a:xfrm>
          <a:prstGeom prst="roundRect">
            <a:avLst>
              <a:gd name="adj" fmla="val 2927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11" name="Shape 8"/>
          <p:cNvSpPr/>
          <p:nvPr/>
        </p:nvSpPr>
        <p:spPr>
          <a:xfrm>
            <a:off x="6409944" y="2912364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finance_ppt/icons/cub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384" y="3097804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51192" y="2514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OLAP Cube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51192" y="2898648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star-schema warehouse gives individual users the drill-down/roll-up power of enterprise BI — by date, category, merchant and account.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210890" y="4434840"/>
            <a:ext cx="5440680" cy="1874520"/>
          </a:xfrm>
          <a:prstGeom prst="roundRect">
            <a:avLst>
              <a:gd name="adj" fmla="val 2927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21" name="Shape 16"/>
          <p:cNvSpPr/>
          <p:nvPr/>
        </p:nvSpPr>
        <p:spPr>
          <a:xfrm>
            <a:off x="3421202" y="5015484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finance_ppt/icons/work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6642" y="5200924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262450" y="4617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No-Code Reporting Layer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262450" y="5001768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workflows expose the entire ETL + ML + reporting pipeline visually — auditable and extensible without deep coding.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30" name="Picture 29" descr="Saveetha Institute of Medical And Technical Sciences">
            <a:extLst>
              <a:ext uri="{FF2B5EF4-FFF2-40B4-BE49-F238E27FC236}">
                <a16:creationId xmlns:a16="http://schemas.microsoft.com/office/drawing/2014/main" id="{391C75FA-111A-DA37-D57D-EFF737DB2D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0442" y="105468"/>
            <a:ext cx="1669724" cy="8348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Mapped to Every Layer of the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3749040"/>
          </a:xfrm>
          <a:prstGeom prst="roundRect">
            <a:avLst>
              <a:gd name="adj" fmla="val 24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</p:sp>
      <p:sp>
        <p:nvSpPr>
          <p:cNvPr id="5" name="Shape 3"/>
          <p:cNvSpPr/>
          <p:nvPr/>
        </p:nvSpPr>
        <p:spPr>
          <a:xfrm>
            <a:off x="1508760" y="18745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finance_ppt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955" y="20647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 &amp; ML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33375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3375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373989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73989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" y="414223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1422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9808" y="4389120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classifiers, K-Means, cross-validation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74136" y="1600200"/>
            <a:ext cx="2651760" cy="3749040"/>
          </a:xfrm>
          <a:prstGeom prst="roundRect">
            <a:avLst>
              <a:gd name="adj" fmla="val 24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</p:sp>
      <p:sp>
        <p:nvSpPr>
          <p:cNvPr id="16" name="Shape 13"/>
          <p:cNvSpPr/>
          <p:nvPr/>
        </p:nvSpPr>
        <p:spPr>
          <a:xfrm>
            <a:off x="4334256" y="18745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1" descr="/home/claude/finance_ppt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451" y="2064715"/>
            <a:ext cx="351130" cy="35113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57016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602736" y="33375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02736" y="33375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602736" y="373989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02736" y="373989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602736" y="414223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02736" y="41422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/ ROLLUP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575304" y="4389120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Fact/dimension modelling &amp; OLAP-style aggregation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99632" y="1600200"/>
            <a:ext cx="2651760" cy="3749040"/>
          </a:xfrm>
          <a:prstGeom prst="roundRect">
            <a:avLst>
              <a:gd name="adj" fmla="val 24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</p:sp>
      <p:sp>
        <p:nvSpPr>
          <p:cNvPr id="27" name="Shape 23"/>
          <p:cNvSpPr/>
          <p:nvPr/>
        </p:nvSpPr>
        <p:spPr>
          <a:xfrm>
            <a:off x="7159752" y="18745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2" descr="/home/claude/finance_ppt/icons/work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947" y="2064715"/>
            <a:ext cx="351130" cy="35113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82512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&amp; Reporting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0" name="Shape 25"/>
          <p:cNvSpPr/>
          <p:nvPr/>
        </p:nvSpPr>
        <p:spPr>
          <a:xfrm>
            <a:off x="6428232" y="373718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41A3D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28232" y="373718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Analytics Platform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400800" y="4389120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ETL, DB connectors, dashboards</a:t>
            </a:r>
            <a:endParaRPr lang="en-US" sz="1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" name="Shape 28"/>
          <p:cNvSpPr/>
          <p:nvPr/>
        </p:nvSpPr>
        <p:spPr>
          <a:xfrm>
            <a:off x="9025128" y="1600200"/>
            <a:ext cx="2651760" cy="3749040"/>
          </a:xfrm>
          <a:prstGeom prst="roundRect">
            <a:avLst>
              <a:gd name="adj" fmla="val 2414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</p:sp>
      <p:sp>
        <p:nvSpPr>
          <p:cNvPr id="34" name="Shape 29"/>
          <p:cNvSpPr/>
          <p:nvPr/>
        </p:nvSpPr>
        <p:spPr>
          <a:xfrm>
            <a:off x="9985248" y="18745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5" name="Image 3" descr="/home/claude/finance_ppt/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5443" y="2064715"/>
            <a:ext cx="351130" cy="35113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208008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9253728" y="33375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9253728" y="33375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VS Code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9253728" y="373989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9253728" y="373989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9253728" y="414223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9253728" y="41422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Scheduler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9226296" y="4389120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development, versioning, automation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49" name="Picture 48" descr="Saveetha Institute of Medical And Technical Sciences">
            <a:extLst>
              <a:ext uri="{FF2B5EF4-FFF2-40B4-BE49-F238E27FC236}">
                <a16:creationId xmlns:a16="http://schemas.microsoft.com/office/drawing/2014/main" id="{8CEF1864-42D8-8272-8F8A-80DBC98082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0442" y="105468"/>
            <a:ext cx="1669724" cy="8348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Classification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assign every transaction to a spending category (Groceries, Utilities, Dining, Travel, EMI, Subscriptions …) so downstream analytics have clean, structured input.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78028" y="2148840"/>
            <a:ext cx="2057400" cy="3063240"/>
          </a:xfrm>
          <a:prstGeom prst="roundRect">
            <a:avLst>
              <a:gd name="adj" fmla="val 3111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6" name="Shape 4"/>
          <p:cNvSpPr/>
          <p:nvPr/>
        </p:nvSpPr>
        <p:spPr>
          <a:xfrm>
            <a:off x="1450696" y="1892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0696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/home/claude/finance_ppt/icons/b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272" y="256032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5188" y="3108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2620" y="3657600"/>
            <a:ext cx="172821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merchant text, handle missing values, normalise amounts, derive date features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4572" y="34061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872588" y="2148840"/>
            <a:ext cx="2057400" cy="3063240"/>
          </a:xfrm>
          <a:prstGeom prst="roundRect">
            <a:avLst>
              <a:gd name="adj" fmla="val 3111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13" name="Shape 10"/>
          <p:cNvSpPr/>
          <p:nvPr/>
        </p:nvSpPr>
        <p:spPr>
          <a:xfrm>
            <a:off x="3645256" y="1892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45256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/home/claude/finance_ppt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832" y="2560320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09748" y="3108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037180" y="3657600"/>
            <a:ext cx="172821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on merchant text + amount, time-of-day, recurring-charge flags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939132" y="34061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067148" y="2148840"/>
            <a:ext cx="2057400" cy="3063240"/>
          </a:xfrm>
          <a:prstGeom prst="roundRect">
            <a:avLst>
              <a:gd name="adj" fmla="val 3111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20" name="Shape 16"/>
          <p:cNvSpPr/>
          <p:nvPr/>
        </p:nvSpPr>
        <p:spPr>
          <a:xfrm>
            <a:off x="5839816" y="1892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39816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pic>
        <p:nvPicPr>
          <p:cNvPr id="22" name="Image 2" descr="/home/claude/finance_ppt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92" y="2560320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04308" y="3108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231740" y="3657600"/>
            <a:ext cx="172821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Naïve Bayes baselines vs. Random Forest / Gradient Boosting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133692" y="34061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7261708" y="2148840"/>
            <a:ext cx="2057400" cy="3063240"/>
          </a:xfrm>
          <a:prstGeom prst="roundRect">
            <a:avLst>
              <a:gd name="adj" fmla="val 3111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27" name="Shape 22"/>
          <p:cNvSpPr/>
          <p:nvPr/>
        </p:nvSpPr>
        <p:spPr>
          <a:xfrm>
            <a:off x="8034376" y="1892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034376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29" name="Image 3" descr="/home/claude/finance_ppt/icons/bulls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952" y="2560320"/>
            <a:ext cx="438912" cy="43891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98868" y="3108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426300" y="3657600"/>
            <a:ext cx="172821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(k=5/10); Accuracy, Precision, Recall, macro F1, confusion matrix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9328252" y="34061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27"/>
          <p:cNvSpPr/>
          <p:nvPr/>
        </p:nvSpPr>
        <p:spPr>
          <a:xfrm>
            <a:off x="9456268" y="2148840"/>
            <a:ext cx="2057400" cy="3063240"/>
          </a:xfrm>
          <a:prstGeom prst="roundRect">
            <a:avLst>
              <a:gd name="adj" fmla="val 3111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34" name="Shape 28"/>
          <p:cNvSpPr/>
          <p:nvPr/>
        </p:nvSpPr>
        <p:spPr>
          <a:xfrm>
            <a:off x="10228936" y="1892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228936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pic>
        <p:nvPicPr>
          <p:cNvPr id="36" name="Image 4" descr="/home/claude/finance_ppt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5512" y="2560320"/>
            <a:ext cx="438912" cy="43891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593428" y="3108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9620860" y="3657600"/>
            <a:ext cx="172821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Categorised transactions loaded into fact_transactions for Modules 2 &amp; 3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44" name="Picture 43" descr="Saveetha Institute of Medical And Technical Sciences">
            <a:extLst>
              <a:ext uri="{FF2B5EF4-FFF2-40B4-BE49-F238E27FC236}">
                <a16:creationId xmlns:a16="http://schemas.microsoft.com/office/drawing/2014/main" id="{59C9B795-23A9-A423-6E3A-E44AB8B9BD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0442" y="105468"/>
            <a:ext cx="1669724" cy="8348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&amp; Financial Health Reporting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each user's normal spending behaviour, flag genuine deviations, and translate the result into one interpretable financial health score.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6" name="Shape 4"/>
          <p:cNvSpPr/>
          <p:nvPr/>
        </p:nvSpPr>
        <p:spPr>
          <a:xfrm>
            <a:off x="758952" y="2775204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finance_ppt/icons/users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92" y="2960644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31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Behavioural Clustering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00200" y="2605698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groups transactions per user/category using amount, frequency &amp; recency (RFM-style) features into normal-spend clusters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9632" y="21488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11" name="Shape 8"/>
          <p:cNvSpPr/>
          <p:nvPr/>
        </p:nvSpPr>
        <p:spPr>
          <a:xfrm>
            <a:off x="6409944" y="2775204"/>
            <a:ext cx="713232" cy="71323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1" descr="/home/claude/finance_ppt/icons/shield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384" y="2960644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51192" y="2331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Hybrid Anomaly Logic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251192" y="2614164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Statistical: distance-from-centroid threshold beyond a set deviation. Rule-based: duplicate charges, category spend spikes, new-merchant flags, subscription creep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315968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16" name="Shape 12"/>
          <p:cNvSpPr/>
          <p:nvPr/>
        </p:nvSpPr>
        <p:spPr>
          <a:xfrm>
            <a:off x="758952" y="4942332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finance_ppt/icons/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392" y="51277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4988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Financial Health Score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00200" y="4789762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 blending savings rate, category-spend diversification (entropy) and anomaly frequency, computed via OLAP aggregates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199632" y="4315968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5F7FB"/>
          </a:solidFill>
          <a:ln>
            <a:solidFill>
              <a:schemeClr val="accent1"/>
            </a:solidFill>
          </a:ln>
        </p:spPr>
      </p:sp>
      <p:sp>
        <p:nvSpPr>
          <p:cNvPr id="21" name="Shape 16"/>
          <p:cNvSpPr/>
          <p:nvPr/>
        </p:nvSpPr>
        <p:spPr>
          <a:xfrm>
            <a:off x="6409944" y="4942332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finance_ppt/icons/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384" y="5127772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51192" y="44988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KNime Reporting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251192" y="4798226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visualise category trends, an anomaly timeline and the health-score trend, with drill-down by month, account or merchant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30" name="Picture 29" descr="Saveetha Institute of Medical And Technical Sciences">
            <a:extLst>
              <a:ext uri="{FF2B5EF4-FFF2-40B4-BE49-F238E27FC236}">
                <a16:creationId xmlns:a16="http://schemas.microsoft.com/office/drawing/2014/main" id="{805D64BA-2BEB-4FB0-C137-E81EDC4318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0442" y="105468"/>
            <a:ext cx="1669724" cy="8348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Warehousing &amp; ETL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that stores, structures and serves data to Modules 1 &amp; 2.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88366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finance_ppt/icons/fileIm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203106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74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21488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Bank, card &amp; wallet statement exports (CSV / API)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5216" y="279806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finance_ppt/icons/b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17" y="2945465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788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80160" y="30632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de-duplication, currency normalisation, category tagging — Python/Pandas or KNime visual ETL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5216" y="371246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finance_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17" y="3859865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703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80160" y="39776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tables → PostgreSQL warehouse (star schema)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85216" y="462686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/home/claude/finance_ppt/icons/cub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17" y="4774265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4617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OLAP Layer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280160" y="48920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CUBE/ROLLUP or KNime pivoting for slice-and-dice across category × month × account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85216" y="554126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/home/claude/finance_ppt/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17" y="5688665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5532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Loads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280160" y="58064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on dim_category / dim_merchant preserves history as mappings evolve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9144000" y="2903220"/>
            <a:ext cx="0" cy="662940"/>
          </a:xfrm>
          <a:prstGeom prst="line">
            <a:avLst/>
          </a:prstGeom>
          <a:noFill/>
          <a:ln w="19050">
            <a:solidFill>
              <a:srgbClr val="B7C3E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144000" y="4389120"/>
            <a:ext cx="0" cy="662940"/>
          </a:xfrm>
          <a:prstGeom prst="line">
            <a:avLst/>
          </a:prstGeom>
          <a:noFill/>
          <a:ln w="19050">
            <a:solidFill>
              <a:srgbClr val="B7C3E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001000" y="3977640"/>
            <a:ext cx="91440" cy="0"/>
          </a:xfrm>
          <a:prstGeom prst="line">
            <a:avLst/>
          </a:prstGeom>
          <a:noFill/>
          <a:ln w="19050">
            <a:solidFill>
              <a:srgbClr val="B7C3E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0195560" y="3977640"/>
            <a:ext cx="91440" cy="0"/>
          </a:xfrm>
          <a:prstGeom prst="line">
            <a:avLst/>
          </a:prstGeom>
          <a:noFill/>
          <a:ln w="19050">
            <a:solidFill>
              <a:srgbClr val="B7C3E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66760" y="230886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366760" y="23088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366760" y="505206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366760" y="50520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dim_category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446520" y="368046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446520" y="36804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dim_account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10287000" y="368046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0287000" y="36804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dim_merchant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092440" y="3566160"/>
            <a:ext cx="210312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38" name="Text 31"/>
          <p:cNvSpPr/>
          <p:nvPr/>
        </p:nvSpPr>
        <p:spPr>
          <a:xfrm>
            <a:off x="8092440" y="36758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fact_transactions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8092440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· is_anomaly · FKs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6766560" y="5806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Data Model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47" name="Picture 46" descr="Saveetha Institute of Medical And Technical Sciences">
            <a:extLst>
              <a:ext uri="{FF2B5EF4-FFF2-40B4-BE49-F238E27FC236}">
                <a16:creationId xmlns:a16="http://schemas.microsoft.com/office/drawing/2014/main" id="{37AFABFC-0FD8-C7C2-0AA8-A73F83130D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0442" y="105468"/>
            <a:ext cx="1669724" cy="8348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3853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Transactions to Financial Insight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11864"/>
            <a:ext cx="5486400" cy="19676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unifies </a:t>
            </a:r>
            <a:r>
              <a:rPr lang="en-US" sz="14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classification, hybrid clustering-based anomaly detection, and OLAP-style reporting</a:t>
            </a:r>
            <a:r>
              <a:rPr lang="en-US" sz="14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single pipeline grounded in sound data-warehousing principles — giving individuals the same analytical rigor enterprises apply to their finances.</a:t>
            </a:r>
            <a:endParaRPr lang="en-US" sz="145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903129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4241457"/>
            <a:ext cx="457200" cy="457200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8" name="Image 0" descr="/home/claude/finance_ppt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360329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4268889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 streaming (e.g., Kafka) for instant alerts</a:t>
            </a:r>
            <a:endParaRPr lang="en-US" sz="1150" dirty="0">
              <a:solidFill>
                <a:srgbClr val="002060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4744377"/>
            <a:ext cx="457200" cy="457200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11" name="Image 1" descr="/home/claude/finance_ppt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863249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4771809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 Banking / UPI API integration in place of file exports</a:t>
            </a:r>
            <a:endParaRPr lang="en-US" sz="1150" dirty="0">
              <a:solidFill>
                <a:srgbClr val="002060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548640" y="5247297"/>
            <a:ext cx="457200" cy="457200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14" name="Image 2" descr="/home/claude/finance_ppt/icons/wal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366169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5274729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mobile app for on-the-go health-score tracking</a:t>
            </a:r>
            <a:endParaRPr lang="en-US" sz="1150" dirty="0">
              <a:solidFill>
                <a:srgbClr val="002060"/>
              </a:solidFill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48640" y="5750217"/>
            <a:ext cx="457200" cy="457200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17" name="Image 3" descr="/home/claude/finance_ppt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869089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5777649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querying over the warehouse via an LLM layer</a:t>
            </a:r>
            <a:endParaRPr lang="en-US" sz="1150" dirty="0">
              <a:solidFill>
                <a:srgbClr val="002060"/>
              </a:solidFill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537960" y="1554480"/>
            <a:ext cx="5074920" cy="4572000"/>
          </a:xfrm>
          <a:prstGeom prst="roundRect">
            <a:avLst>
              <a:gd name="adj" fmla="val 16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8580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1" name="Shape 15"/>
          <p:cNvSpPr/>
          <p:nvPr/>
        </p:nvSpPr>
        <p:spPr>
          <a:xfrm>
            <a:off x="6894576" y="23225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/home/claude/finance_ppt/icons/ta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977" y="2469977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8952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24" name="Text 17"/>
          <p:cNvSpPr/>
          <p:nvPr/>
        </p:nvSpPr>
        <p:spPr>
          <a:xfrm>
            <a:off x="7589520" y="25968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Classification</a:t>
            </a:r>
            <a:endParaRPr lang="en-US" sz="1150" dirty="0">
              <a:solidFill>
                <a:srgbClr val="002060"/>
              </a:solidFill>
            </a:endParaRPr>
          </a:p>
        </p:txBody>
      </p:sp>
      <p:sp>
        <p:nvSpPr>
          <p:cNvPr id="25" name="Shape 18"/>
          <p:cNvSpPr/>
          <p:nvPr/>
        </p:nvSpPr>
        <p:spPr>
          <a:xfrm>
            <a:off x="6894576" y="319125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5" descr="/home/claude/finance_ppt/icons/shieldAl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1977" y="3338657"/>
            <a:ext cx="272125" cy="2721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58952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28" name="Text 20"/>
          <p:cNvSpPr/>
          <p:nvPr/>
        </p:nvSpPr>
        <p:spPr>
          <a:xfrm>
            <a:off x="7589520" y="34655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&amp; Reporting</a:t>
            </a:r>
            <a:endParaRPr lang="en-US" sz="1150" dirty="0">
              <a:solidFill>
                <a:srgbClr val="002060"/>
              </a:solidFill>
            </a:endParaRPr>
          </a:p>
        </p:txBody>
      </p:sp>
      <p:sp>
        <p:nvSpPr>
          <p:cNvPr id="29" name="Shape 21"/>
          <p:cNvSpPr/>
          <p:nvPr/>
        </p:nvSpPr>
        <p:spPr>
          <a:xfrm>
            <a:off x="6894576" y="40599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6" descr="/home/claude/finance_ppt/icons/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1977" y="4207337"/>
            <a:ext cx="272125" cy="27212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589520" y="4023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32" name="Text 23"/>
          <p:cNvSpPr/>
          <p:nvPr/>
        </p:nvSpPr>
        <p:spPr>
          <a:xfrm>
            <a:off x="7589520" y="43342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&amp; ETL</a:t>
            </a:r>
            <a:endParaRPr lang="en-US" sz="1150" dirty="0">
              <a:solidFill>
                <a:srgbClr val="002060"/>
              </a:solidFill>
            </a:endParaRPr>
          </a:p>
        </p:txBody>
      </p:sp>
      <p:sp>
        <p:nvSpPr>
          <p:cNvPr id="33" name="Shape 24"/>
          <p:cNvSpPr/>
          <p:nvPr/>
        </p:nvSpPr>
        <p:spPr>
          <a:xfrm>
            <a:off x="6858000" y="4937760"/>
            <a:ext cx="44348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6858000" y="512064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warehouse-backed system that classifies, protects and reports on personal financial health — continuously.</a:t>
            </a:r>
            <a:endParaRPr lang="en-US" sz="1150" dirty="0">
              <a:solidFill>
                <a:srgbClr val="002060"/>
              </a:solidFill>
            </a:endParaRPr>
          </a:p>
        </p:txBody>
      </p:sp>
      <p:sp>
        <p:nvSpPr>
          <p:cNvPr id="36" name="Text 27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>
              <a:solidFill>
                <a:srgbClr val="002060"/>
              </a:solidFill>
            </a:endParaRPr>
          </a:p>
        </p:txBody>
      </p:sp>
      <p:pic>
        <p:nvPicPr>
          <p:cNvPr id="39" name="Picture 38" descr="Saveetha Institute of Medical And Technical Sciences">
            <a:extLst>
              <a:ext uri="{FF2B5EF4-FFF2-40B4-BE49-F238E27FC236}">
                <a16:creationId xmlns:a16="http://schemas.microsoft.com/office/drawing/2014/main" id="{D6978C7C-224D-155C-0DDC-8CC56E943D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0442" y="105468"/>
            <a:ext cx="1669724" cy="8348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9CFC1-484C-D6D5-76D8-73D5BC92A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5D3802A1-60B2-4741-5A9E-8F708D6E8B34}"/>
              </a:ext>
            </a:extLst>
          </p:cNvPr>
          <p:cNvSpPr/>
          <p:nvPr/>
        </p:nvSpPr>
        <p:spPr>
          <a:xfrm>
            <a:off x="4400357" y="2247463"/>
            <a:ext cx="3391286" cy="1911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600" dirty="0"/>
          </a:p>
        </p:txBody>
      </p:sp>
      <p:pic>
        <p:nvPicPr>
          <p:cNvPr id="16" name="Picture 15" descr="Admission — SIMATS DEEMED UNIVERSITY">
            <a:extLst>
              <a:ext uri="{FF2B5EF4-FFF2-40B4-BE49-F238E27FC236}">
                <a16:creationId xmlns:a16="http://schemas.microsoft.com/office/drawing/2014/main" id="{318D74C5-D6BB-DCCB-6040-35B0D3BE8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1" y="109791"/>
            <a:ext cx="2819399" cy="758982"/>
          </a:xfrm>
          <a:prstGeom prst="rect">
            <a:avLst/>
          </a:prstGeom>
        </p:spPr>
      </p:pic>
      <p:pic>
        <p:nvPicPr>
          <p:cNvPr id="17" name="Picture 16" descr="Saveetha Institute of Medical And Technical Sciences">
            <a:extLst>
              <a:ext uri="{FF2B5EF4-FFF2-40B4-BE49-F238E27FC236}">
                <a16:creationId xmlns:a16="http://schemas.microsoft.com/office/drawing/2014/main" id="{063CAD46-A08C-187F-B1B0-D1791DCFB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442" y="105468"/>
            <a:ext cx="1669724" cy="83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06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859</Words>
  <Application>Microsoft Office PowerPoint</Application>
  <PresentationFormat>Widescreen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Akil Abhinavk</cp:lastModifiedBy>
  <cp:revision>3</cp:revision>
  <dcterms:created xsi:type="dcterms:W3CDTF">2026-08-01T03:31:30Z</dcterms:created>
  <dcterms:modified xsi:type="dcterms:W3CDTF">2026-08-01T05:07:50Z</dcterms:modified>
</cp:coreProperties>
</file>